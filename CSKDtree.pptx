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63" r:id="rId4"/>
    <p:sldId id="262" r:id="rId5"/>
    <p:sldId id="259" r:id="rId6"/>
    <p:sldId id="258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E5B56-7C5E-720A-68B5-5D4AC6C7E992}" v="1" dt="2025-11-13T05:01:57.947"/>
    <p1510:client id="{A1D7ACA6-875D-EC4D-B8F8-9420F1FA5646}" v="592" dt="2025-11-13T04:56:32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6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4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3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7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9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1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9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0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96AE4BD0-E2D6-4FE1-9295-59E338A45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7" y="-1"/>
            <a:ext cx="12195048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76656"/>
            <a:ext cx="3277432" cy="3063240"/>
          </a:xfrm>
        </p:spPr>
        <p:txBody>
          <a:bodyPr>
            <a:normAutofit/>
          </a:bodyPr>
          <a:lstStyle/>
          <a:p>
            <a:r>
              <a:rPr lang="en-US"/>
              <a:t>KD-Trees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40481"/>
            <a:ext cx="3277432" cy="23472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Roman Zalewski</a:t>
            </a:r>
          </a:p>
          <a:p>
            <a:r>
              <a:rPr lang="en-US"/>
              <a:t>Jonah Taylor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A4B23-3289-8967-18DB-02F6CEBF3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00" r="14157" b="-1"/>
          <a:stretch>
            <a:fillRect/>
          </a:stretch>
        </p:blipFill>
        <p:spPr>
          <a:xfrm>
            <a:off x="3957208" y="10"/>
            <a:ext cx="8234792" cy="6857990"/>
          </a:xfrm>
          <a:custGeom>
            <a:avLst/>
            <a:gdLst/>
            <a:ahLst/>
            <a:cxnLst/>
            <a:rect l="l" t="t" r="r" b="b"/>
            <a:pathLst>
              <a:path w="8234792" h="6821666">
                <a:moveTo>
                  <a:pt x="2322410" y="0"/>
                </a:moveTo>
                <a:lnTo>
                  <a:pt x="8234792" y="0"/>
                </a:lnTo>
                <a:lnTo>
                  <a:pt x="8234792" y="4503719"/>
                </a:lnTo>
                <a:lnTo>
                  <a:pt x="8215888" y="4629599"/>
                </a:lnTo>
                <a:cubicBezTo>
                  <a:pt x="8049795" y="5454493"/>
                  <a:pt x="7647096" y="6191792"/>
                  <a:pt x="7082996" y="6765066"/>
                </a:cubicBezTo>
                <a:lnTo>
                  <a:pt x="7021717" y="6821666"/>
                </a:lnTo>
                <a:lnTo>
                  <a:pt x="0" y="6821666"/>
                </a:lnTo>
                <a:lnTo>
                  <a:pt x="0" y="3790727"/>
                </a:lnTo>
                <a:cubicBezTo>
                  <a:pt x="0" y="2186928"/>
                  <a:pt x="879517" y="791919"/>
                  <a:pt x="2175128" y="7665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E51B-31C3-22AF-4074-52EE5B74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KD-Tree?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70C4B-C405-0B26-7119-1D7A0999B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K-Dimensional Tree</a:t>
            </a:r>
          </a:p>
          <a:p>
            <a:r>
              <a:rPr lang="en-US"/>
              <a:t>Based on a binary search tree</a:t>
            </a:r>
          </a:p>
          <a:p>
            <a:r>
              <a:rPr lang="en-US"/>
              <a:t>Used to multi-dimensional data</a:t>
            </a:r>
          </a:p>
          <a:p>
            <a:r>
              <a:rPr lang="en-US"/>
              <a:t>Efficiently store all dimensions at once</a:t>
            </a:r>
          </a:p>
          <a:p>
            <a:r>
              <a:rPr lang="en-US"/>
              <a:t>Used for distance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Ray Tracing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Collision Detection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Machine Learning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AD0A-F41C-719C-4C45-0AF23741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34E1-AC10-7081-464D-01FCB55F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KD-Tree?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D3DB479C-31C8-46C2-F2FA-A850CFF54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9" y="345174"/>
            <a:ext cx="5784506" cy="595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1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D72F-EC9A-7865-068E-12337E20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218B-8530-D6ED-34D9-87BFF602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KD-Tree?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1A5F04-085A-DAAF-CA99-182C4078E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293" y="366767"/>
            <a:ext cx="8683606" cy="612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0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B7A1-19B3-1FF6-A72C-BE6379F6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EE84-8E35-7B10-3ADA-60D2EA0D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1147A-F6B5-DB84-DCD7-541A23A49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Sort through a new dimension, every depth</a:t>
            </a:r>
          </a:p>
          <a:p>
            <a:pPr>
              <a:lnSpc>
                <a:spcPct val="200000"/>
              </a:lnSpc>
            </a:pPr>
            <a:r>
              <a:rPr lang="en-US" err="1"/>
              <a:t>Sort_by</a:t>
            </a:r>
            <a:r>
              <a:rPr lang="en-US"/>
              <a:t> = dimensions % depth</a:t>
            </a:r>
          </a:p>
          <a:p>
            <a:pPr>
              <a:lnSpc>
                <a:spcPct val="200000"/>
              </a:lnSpc>
            </a:pPr>
            <a:r>
              <a:rPr lang="en-US"/>
              <a:t>Same rules as a binary search tree</a:t>
            </a:r>
          </a:p>
          <a:p>
            <a:pPr>
              <a:lnSpc>
                <a:spcPct val="200000"/>
              </a:lnSpc>
            </a:pPr>
            <a:r>
              <a:rPr lang="en-US"/>
              <a:t>2 children per parent node</a:t>
            </a:r>
          </a:p>
          <a:p>
            <a:pPr>
              <a:lnSpc>
                <a:spcPct val="200000"/>
              </a:lnSpc>
            </a:pPr>
            <a:r>
              <a:rPr lang="en-US"/>
              <a:t>More efficient if balanced</a:t>
            </a:r>
          </a:p>
        </p:txBody>
      </p:sp>
    </p:spTree>
    <p:extLst>
      <p:ext uri="{BB962C8B-B14F-4D97-AF65-F5344CB8AC3E}">
        <p14:creationId xmlns:p14="http://schemas.microsoft.com/office/powerpoint/2010/main" val="117368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7C82-E157-4877-F55D-D98325DB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they be balanced?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E84AF-2E12-C6DC-0F6C-5DE932640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AVL Balancing corrupts the properties</a:t>
            </a:r>
          </a:p>
          <a:p>
            <a:pPr>
              <a:lnSpc>
                <a:spcPct val="200000"/>
              </a:lnSpc>
            </a:pPr>
            <a:r>
              <a:rPr lang="en-US"/>
              <a:t>Must be balanced through median recursive partitioning</a:t>
            </a:r>
          </a:p>
          <a:p>
            <a:pPr>
              <a:lnSpc>
                <a:spcPct val="200000"/>
              </a:lnSpc>
            </a:pPr>
            <a:r>
              <a:rPr lang="en-US"/>
              <a:t>O(</a:t>
            </a:r>
            <a:r>
              <a:rPr lang="en-US" err="1"/>
              <a:t>kn</a:t>
            </a:r>
            <a:r>
              <a:rPr lang="en-US"/>
              <a:t>*</a:t>
            </a:r>
            <a:r>
              <a:rPr lang="en-US" err="1"/>
              <a:t>logn</a:t>
            </a:r>
            <a:r>
              <a:rPr lang="en-US"/>
              <a:t>), where k is the dimension</a:t>
            </a:r>
          </a:p>
        </p:txBody>
      </p:sp>
    </p:spTree>
    <p:extLst>
      <p:ext uri="{BB962C8B-B14F-4D97-AF65-F5344CB8AC3E}">
        <p14:creationId xmlns:p14="http://schemas.microsoft.com/office/powerpoint/2010/main" val="303572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1F73-945D-08BA-9932-33E274FB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D879-C23F-07CD-AAC9-5003D8D1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Complexities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DAF9-9C9C-9C27-73F3-8732953E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Insertion – O(log n)</a:t>
            </a:r>
          </a:p>
          <a:p>
            <a:pPr>
              <a:lnSpc>
                <a:spcPct val="200000"/>
              </a:lnSpc>
            </a:pPr>
            <a:r>
              <a:rPr lang="en-US"/>
              <a:t>Balanced insertion – O(</a:t>
            </a:r>
            <a:r>
              <a:rPr lang="en-US" err="1"/>
              <a:t>kn</a:t>
            </a:r>
            <a:r>
              <a:rPr lang="en-US"/>
              <a:t> log n)</a:t>
            </a:r>
          </a:p>
          <a:p>
            <a:pPr>
              <a:lnSpc>
                <a:spcPct val="200000"/>
              </a:lnSpc>
            </a:pPr>
            <a:r>
              <a:rPr lang="en-US"/>
              <a:t>Search O(k log n)</a:t>
            </a:r>
          </a:p>
          <a:p>
            <a:pPr>
              <a:lnSpc>
                <a:spcPct val="200000"/>
              </a:lnSpc>
            </a:pPr>
            <a:r>
              <a:rPr lang="en-US"/>
              <a:t>Delete O(log n)+O(n) to balance</a:t>
            </a:r>
          </a:p>
        </p:txBody>
      </p:sp>
    </p:spTree>
    <p:extLst>
      <p:ext uri="{BB962C8B-B14F-4D97-AF65-F5344CB8AC3E}">
        <p14:creationId xmlns:p14="http://schemas.microsoft.com/office/powerpoint/2010/main" val="271974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7EF1-DB8F-50FB-10AA-A19E6CDE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17F8-89BB-BEAE-026E-3D549A9B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K-Nearest-Neighbor</a:t>
            </a:r>
          </a:p>
        </p:txBody>
      </p:sp>
      <p:pic>
        <p:nvPicPr>
          <p:cNvPr id="4" name="Content Placeholder 3" descr="File:KNN decision surface animation.gif - Wikimedia Commons">
            <a:extLst>
              <a:ext uri="{FF2B5EF4-FFF2-40B4-BE49-F238E27FC236}">
                <a16:creationId xmlns:a16="http://schemas.microsoft.com/office/drawing/2014/main" id="{5F05DFF8-7F26-99BC-4E1F-A727B7E4E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771" y="2215579"/>
            <a:ext cx="7685037" cy="384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6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9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B43F8043-C799-466F-8C9B-9AB1ADB60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Color Fill">
            <a:extLst>
              <a:ext uri="{FF2B5EF4-FFF2-40B4-BE49-F238E27FC236}">
                <a16:creationId xmlns:a16="http://schemas.microsoft.com/office/drawing/2014/main" id="{E2539269-A988-4404-9F15-456795083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06F529-CD5D-4778-9EFF-539782DE4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3DD05D7-729A-4FEE-8BAE-4DF76A86D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A34F10-25C0-4696-A77E-D08B72EA7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CF4D24D-08A4-4D2F-9911-46A2D17E6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Graphic 9">
              <a:extLst>
                <a:ext uri="{FF2B5EF4-FFF2-40B4-BE49-F238E27FC236}">
                  <a16:creationId xmlns:a16="http://schemas.microsoft.com/office/drawing/2014/main" id="{A60E1FF2-EE91-4C0C-914A-262F36E1E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9">
              <a:extLst>
                <a:ext uri="{FF2B5EF4-FFF2-40B4-BE49-F238E27FC236}">
                  <a16:creationId xmlns:a16="http://schemas.microsoft.com/office/drawing/2014/main" id="{8B579174-67A2-4DA2-8E51-013AFF86C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6CAC630-4D61-4D13-88B3-734086C50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79CE322-CC11-442C-A018-DE4477110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BCD36D-87B5-4011-9D23-FE2BB6828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29659E5-874B-44E0-BE0A-B8409AF8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ure">
            <a:extLst>
              <a:ext uri="{FF2B5EF4-FFF2-40B4-BE49-F238E27FC236}">
                <a16:creationId xmlns:a16="http://schemas.microsoft.com/office/drawing/2014/main" id="{805817B5-27FE-455C-B285-B97D53E1E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CA825-4F69-C40A-382F-7F340AD3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583" y="604018"/>
            <a:ext cx="5859787" cy="2824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err="1"/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310230132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TropicVTI</vt:lpstr>
      <vt:lpstr>KD-Trees</vt:lpstr>
      <vt:lpstr>What is a KD-Tree?</vt:lpstr>
      <vt:lpstr>What is a KD-Tree?</vt:lpstr>
      <vt:lpstr>What is a KD-Tree?</vt:lpstr>
      <vt:lpstr>How does it work?</vt:lpstr>
      <vt:lpstr>How can they be balanced?</vt:lpstr>
      <vt:lpstr>Time Complexities</vt:lpstr>
      <vt:lpstr>K-Nearest-Neighbor</vt:lpstr>
      <vt:lpstr>Streamlit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2025-11-13T04:19:41Z</dcterms:created>
  <dcterms:modified xsi:type="dcterms:W3CDTF">2025-11-13T05:34:39Z</dcterms:modified>
</cp:coreProperties>
</file>